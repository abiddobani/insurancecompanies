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Peers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1F3A5F"/>
              </a:solidFill>
              <a:ln>
                <a:noFill/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Manulife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Canada Life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Sun Life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iA Financial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BMO Life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Beneva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ivari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Empire Life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Equitable Life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Co-operators Life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Wawanesa Life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Assumption Life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Foresters Life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Canadian Premier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Primerica Life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Humania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Sheet1!$A$2:$A$17</c:f>
              <c:numCache>
                <c:formatCode>General</c:formatCode>
                <c:ptCount val="16"/>
                <c:pt idx="0">
                  <c:v>43.4</c:v>
                </c:pt>
                <c:pt idx="1">
                  <c:v>45.8</c:v>
                </c:pt>
                <c:pt idx="2">
                  <c:v>48.2</c:v>
                </c:pt>
                <c:pt idx="3">
                  <c:v>35.6</c:v>
                </c:pt>
                <c:pt idx="4">
                  <c:v>20.5</c:v>
                </c:pt>
                <c:pt idx="5">
                  <c:v>33.5</c:v>
                </c:pt>
                <c:pt idx="6">
                  <c:v>43.1</c:v>
                </c:pt>
                <c:pt idx="7">
                  <c:v>21.5</c:v>
                </c:pt>
                <c:pt idx="8">
                  <c:v>60.6</c:v>
                </c:pt>
                <c:pt idx="9">
                  <c:v>29.6</c:v>
                </c:pt>
                <c:pt idx="10">
                  <c:v>25.8</c:v>
                </c:pt>
                <c:pt idx="11">
                  <c:v>30.200000000000003</c:v>
                </c:pt>
                <c:pt idx="12">
                  <c:v>15.1</c:v>
                </c:pt>
                <c:pt idx="13">
                  <c:v>26.4</c:v>
                </c:pt>
                <c:pt idx="14">
                  <c:v>0.0</c:v>
                </c:pt>
                <c:pt idx="15">
                  <c:v>9.3</c:v>
                </c:pt>
              </c:numCache>
            </c:numRef>
          </c:xVal>
          <c:yVal>
            <c:numRef>
              <c:f>Sheet1!$B$2:$B$17</c:f>
              <c:numCache>
                <c:formatCode>General</c:formatCode>
                <c:ptCount val="16"/>
                <c:pt idx="0">
                  <c:v>135.57</c:v>
                </c:pt>
                <c:pt idx="1">
                  <c:v>127.66</c:v>
                </c:pt>
                <c:pt idx="2">
                  <c:v>139.63</c:v>
                </c:pt>
                <c:pt idx="3">
                  <c:v>137.0</c:v>
                </c:pt>
                <c:pt idx="4">
                  <c:v>134.12</c:v>
                </c:pt>
                <c:pt idx="5">
                  <c:v>163.0</c:v>
                </c:pt>
                <c:pt idx="6">
                  <c:v>129.2</c:v>
                </c:pt>
                <c:pt idx="7">
                  <c:v>153.04</c:v>
                </c:pt>
                <c:pt idx="8">
                  <c:v>158.98</c:v>
                </c:pt>
                <c:pt idx="9">
                  <c:v>159.63</c:v>
                </c:pt>
                <c:pt idx="10">
                  <c:v>166.61</c:v>
                </c:pt>
                <c:pt idx="11">
                  <c:v>167.0</c:v>
                </c:pt>
                <c:pt idx="12">
                  <c:v>207.87</c:v>
                </c:pt>
                <c:pt idx="13">
                  <c:v>163.9</c:v>
                </c:pt>
                <c:pt idx="14">
                  <c:v>194.3</c:v>
                </c:pt>
                <c:pt idx="15">
                  <c:v>185.0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Sheet1!$B$19</c:f>
              <c:strCache>
                <c:ptCount val="1"/>
                <c:pt idx="0">
                  <c:v>RBC Life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3"/>
            <c:spPr>
              <a:solidFill>
                <a:srgbClr val="D9822B"/>
              </a:solidFill>
              <a:ln>
                <a:noFill/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400" b="1" i="0">
                        <a:solidFill>
                          <a:srgbClr val="D9822B"/>
                        </a:solidFill>
                        <a:latin typeface="Arial"/>
                      </a:rPr>
                      <a:t>RBC Life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Sheet1!$A$20:$A$20</c:f>
              <c:numCache>
                <c:formatCode>General</c:formatCode>
                <c:ptCount val="1"/>
                <c:pt idx="0">
                  <c:v>34.099999999999994</c:v>
                </c:pt>
              </c:numCache>
            </c:numRef>
          </c:xVal>
          <c:yVal>
            <c:numRef>
              <c:f>Sheet1!$B$20:$B$20</c:f>
              <c:numCache>
                <c:formatCode>General</c:formatCode>
                <c:ptCount val="1"/>
                <c:pt idx="0">
                  <c:v>132.0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Sheet1!$B$22</c:f>
              <c:strCache>
                <c:ptCount val="1"/>
                <c:pt idx="0">
                  <c:v>Median return-seeking</c:v>
                </c:pt>
              </c:strCache>
            </c:strRef>
          </c:tx>
          <c:spPr>
            <a:ln w="15875">
              <a:solidFill>
                <a:srgbClr val="9AA5B1"/>
              </a:solidFill>
              <a:prstDash val="dash"/>
            </a:ln>
          </c:spPr>
          <c:marker>
            <c:symbol val="none"/>
          </c:marker>
          <c:xVal>
            <c:numRef>
              <c:f>Sheet1!$A$23:$A$24</c:f>
              <c:numCache>
                <c:formatCode>General</c:formatCode>
                <c:ptCount val="2"/>
                <c:pt idx="0">
                  <c:v>30.200000000000003</c:v>
                </c:pt>
                <c:pt idx="1">
                  <c:v>30.200000000000003</c:v>
                </c:pt>
              </c:numCache>
            </c:numRef>
          </c:xVal>
          <c:yVal>
            <c:numRef>
              <c:f>Sheet1!$B$23:$B$24</c:f>
              <c:numCache>
                <c:formatCode>General</c:formatCode>
                <c:ptCount val="2"/>
                <c:pt idx="0">
                  <c:v>120</c:v>
                </c:pt>
                <c:pt idx="1">
                  <c:v>215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Sheet1!$B$26</c:f>
              <c:strCache>
                <c:ptCount val="1"/>
                <c:pt idx="0">
                  <c:v>Median capital ratio</c:v>
                </c:pt>
              </c:strCache>
            </c:strRef>
          </c:tx>
          <c:spPr>
            <a:ln w="15875">
              <a:solidFill>
                <a:srgbClr val="9AA5B1"/>
              </a:solidFill>
              <a:prstDash val="dash"/>
            </a:ln>
          </c:spPr>
          <c:marker>
            <c:symbol val="none"/>
          </c:marker>
          <c:xVal>
            <c:numRef>
              <c:f>Sheet1!$A$27:$A$28</c:f>
              <c:numCache>
                <c:formatCode>General</c:formatCode>
                <c:ptCount val="2"/>
                <c:pt idx="0">
                  <c:v>0</c:v>
                </c:pt>
                <c:pt idx="1">
                  <c:v>65</c:v>
                </c:pt>
              </c:numCache>
            </c:numRef>
          </c:xVal>
          <c:yVal>
            <c:numRef>
              <c:f>Sheet1!$B$27:$B$28</c:f>
              <c:numCache>
                <c:formatCode>General</c:formatCode>
                <c:ptCount val="2"/>
                <c:pt idx="0">
                  <c:v>158.98</c:v>
                </c:pt>
                <c:pt idx="1">
                  <c:v>158.98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65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400" b="0" i="0">
                    <a:solidFill>
                      <a:srgbClr val="333333"/>
                    </a:solidFill>
                    <a:latin typeface="Arial"/>
                  </a:rPr>
                  <a:t>Return-seeking assets, % of general account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215.0"/>
          <c:min val="120.0"/>
        </c:scaling>
        <c:delete val="0"/>
        <c:axPos val="l"/>
        <c:title>
          <c:tx>
            <c:rich>
              <a:bodyPr/>
              <a:lstStyle/>
              <a:p>
                <a:r>
                  <a:rPr sz="1400" b="0" i="0">
                    <a:solidFill>
                      <a:srgbClr val="333333"/>
                    </a:solidFill>
                    <a:latin typeface="Arial"/>
                  </a:rPr>
                  <a:t>LICAT / solvency ratio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C$MM per C$10Bn</c:v>
                </c:pt>
              </c:strCache>
            </c:strRef>
          </c:tx>
          <c:spPr>
            <a:solidFill>
              <a:srgbClr val="1F3A5F"/>
            </a:solidFill>
          </c:spPr>
          <c:invertIfNegative val="0"/>
          <c:dPt>
            <c:idx val="9"/>
            <c:spPr>
              <a:solidFill>
                <a:srgbClr val="D9822B"/>
              </a:solidFill>
            </c:spPr>
          </c:dPt>
          <c:dLbls>
            <c:dLbl>
              <c:idx val="9"/>
              <c:spPr/>
              <c:txPr>
                <a:bodyPr/>
                <a:lstStyle/>
                <a:p>
                  <a:pPr>
                    <a:defRPr b="1" sz="1400"/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+0;-0;0" sourceLinked="0"/>
            <c:txPr>
              <a:bodyPr/>
              <a:lstStyle/>
              <a:p>
                <a:pPr>
                  <a:defRPr sz="14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iA Financial</c:v>
                </c:pt>
                <c:pt idx="1">
                  <c:v>Canada Life</c:v>
                </c:pt>
                <c:pt idx="2">
                  <c:v>Empire Life</c:v>
                </c:pt>
                <c:pt idx="3">
                  <c:v>Manulife</c:v>
                </c:pt>
                <c:pt idx="4">
                  <c:v>ivari</c:v>
                </c:pt>
                <c:pt idx="5">
                  <c:v>Wawanesa Life</c:v>
                </c:pt>
                <c:pt idx="6">
                  <c:v>Co-operators Life</c:v>
                </c:pt>
                <c:pt idx="7">
                  <c:v>Beneva</c:v>
                </c:pt>
                <c:pt idx="8">
                  <c:v>Desjardins</c:v>
                </c:pt>
                <c:pt idx="9">
                  <c:v>▸ RBC Life</c:v>
                </c:pt>
                <c:pt idx="10">
                  <c:v>Foresters Life</c:v>
                </c:pt>
                <c:pt idx="11">
                  <c:v>Assumption Life</c:v>
                </c:pt>
                <c:pt idx="12">
                  <c:v>Canadian Premier</c:v>
                </c:pt>
                <c:pt idx="13">
                  <c:v>Sun Life</c:v>
                </c:pt>
                <c:pt idx="14">
                  <c:v>Equitable Life</c:v>
                </c:pt>
                <c:pt idx="15">
                  <c:v>BMO Life</c:v>
                </c:pt>
                <c:pt idx="16">
                  <c:v>Primerica Life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-366.0</c:v>
                </c:pt>
                <c:pt idx="1">
                  <c:v>-277.0</c:v>
                </c:pt>
                <c:pt idx="2">
                  <c:v>-205.0</c:v>
                </c:pt>
                <c:pt idx="3">
                  <c:v>-161.0</c:v>
                </c:pt>
                <c:pt idx="4">
                  <c:v>-104.0</c:v>
                </c:pt>
                <c:pt idx="5">
                  <c:v>-101.0</c:v>
                </c:pt>
                <c:pt idx="6">
                  <c:v>-72.0</c:v>
                </c:pt>
                <c:pt idx="7">
                  <c:v>-61.0</c:v>
                </c:pt>
                <c:pt idx="8">
                  <c:v>-41.0</c:v>
                </c:pt>
                <c:pt idx="9">
                  <c:v>-24.0</c:v>
                </c:pt>
                <c:pt idx="10">
                  <c:v>68.0</c:v>
                </c:pt>
                <c:pt idx="11">
                  <c:v>140.0</c:v>
                </c:pt>
                <c:pt idx="12">
                  <c:v>168.0</c:v>
                </c:pt>
                <c:pt idx="13">
                  <c:v>281.0</c:v>
                </c:pt>
                <c:pt idx="14">
                  <c:v>303.0</c:v>
                </c:pt>
                <c:pt idx="15">
                  <c:v>435.0</c:v>
                </c:pt>
                <c:pt idx="16">
                  <c:v>510.0</c:v>
                </c:pt>
              </c:numCache>
            </c:numRef>
          </c:val>
        </c:ser>
        <c:dLbls>
          <c:numFmt formatCode="+0;-0;0" sourceLinked="0"/>
          <c:txPr>
            <a:bodyPr/>
            <a:lstStyle/>
            <a:p>
              <a:pPr>
                <a:defRPr sz="14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Gridlines>
          <c:spPr>
            <a:ln>
              <a:solidFill>
                <a:srgbClr val="E6E8EB"/>
              </a:solidFill>
            </a:ln>
          </c:spPr>
        </c:majorGridlines>
        <c:numFmt formatCode="+0;-0;0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Peer high</c:v>
                </c:pt>
              </c:strCache>
            </c:strRef>
          </c:tx>
          <c:spPr>
            <a:ln w="19050">
              <a:solidFill>
                <a:srgbClr val="9AA5B1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9AA5B1"/>
              </a:solidFill>
              <a:ln>
                <a:noFill/>
              </a:ln>
            </c:spPr>
          </c:marker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5y</c:v>
                </c:pt>
                <c:pt idx="2">
                  <c:v>10y</c:v>
                </c:pt>
                <c:pt idx="3">
                  <c:v>20y</c:v>
                </c:pt>
                <c:pt idx="4">
                  <c:v>30y</c:v>
                </c:pt>
                <c:pt idx="5">
                  <c:v>70y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3.95</c:v>
                </c:pt>
                <c:pt idx="1">
                  <c:v>4.57</c:v>
                </c:pt>
                <c:pt idx="2">
                  <c:v>5.08</c:v>
                </c:pt>
                <c:pt idx="3">
                  <c:v>5.62</c:v>
                </c:pt>
                <c:pt idx="4">
                  <c:v>6.1</c:v>
                </c:pt>
                <c:pt idx="5">
                  <c:v>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median</c:v>
                </c:pt>
              </c:strCache>
            </c:strRef>
          </c:tx>
          <c:spPr>
            <a:ln w="31750">
              <a:solidFill>
                <a:srgbClr val="1F3A5F"/>
              </a:solidFill>
            </a:ln>
          </c:spPr>
          <c:marker>
            <c:symbol val="circle"/>
            <c:size val="6"/>
            <c:spPr>
              <a:solidFill>
                <a:srgbClr val="1F3A5F"/>
              </a:solidFill>
              <a:ln>
                <a:noFill/>
              </a:ln>
            </c:spPr>
          </c:marker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5y</c:v>
                </c:pt>
                <c:pt idx="2">
                  <c:v>10y</c:v>
                </c:pt>
                <c:pt idx="3">
                  <c:v>20y</c:v>
                </c:pt>
                <c:pt idx="4">
                  <c:v>30y</c:v>
                </c:pt>
                <c:pt idx="5">
                  <c:v>70y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3.1</c:v>
                </c:pt>
                <c:pt idx="1">
                  <c:v>3.86</c:v>
                </c:pt>
                <c:pt idx="2">
                  <c:v>4.6</c:v>
                </c:pt>
                <c:pt idx="3">
                  <c:v>5.36</c:v>
                </c:pt>
                <c:pt idx="4">
                  <c:v>5.3</c:v>
                </c:pt>
                <c:pt idx="5">
                  <c:v>5.15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low</c:v>
                </c:pt>
              </c:strCache>
            </c:strRef>
          </c:tx>
          <c:spPr>
            <a:ln w="19050">
              <a:solidFill>
                <a:srgbClr val="9AA5B1"/>
              </a:solidFill>
              <a:prstDash val="dash"/>
            </a:ln>
          </c:spPr>
          <c:marker>
            <c:symbol val="circle"/>
            <c:size val="6"/>
            <c:spPr>
              <a:solidFill>
                <a:srgbClr val="9AA5B1"/>
              </a:solidFill>
              <a:ln>
                <a:noFill/>
              </a:ln>
            </c:spPr>
          </c:marker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5y</c:v>
                </c:pt>
                <c:pt idx="2">
                  <c:v>10y</c:v>
                </c:pt>
                <c:pt idx="3">
                  <c:v>20y</c:v>
                </c:pt>
                <c:pt idx="4">
                  <c:v>30y</c:v>
                </c:pt>
                <c:pt idx="5">
                  <c:v>70y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2.73</c:v>
                </c:pt>
                <c:pt idx="1">
                  <c:v>3.52</c:v>
                </c:pt>
                <c:pt idx="2">
                  <c:v>4.29</c:v>
                </c:pt>
                <c:pt idx="3">
                  <c:v>4.9</c:v>
                </c:pt>
                <c:pt idx="4">
                  <c:v>4.74</c:v>
                </c:pt>
                <c:pt idx="5">
                  <c:v>4.4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RBC Life</c:v>
                </c:pt>
              </c:strCache>
            </c:strRef>
          </c:tx>
          <c:spPr>
            <a:ln w="38100">
              <a:solidFill>
                <a:srgbClr val="D9822B"/>
              </a:solidFill>
            </a:ln>
          </c:spPr>
          <c:marker>
            <c:symbol val="circle"/>
            <c:size val="6"/>
            <c:spPr>
              <a:solidFill>
                <a:srgbClr val="D9822B"/>
              </a:solidFill>
              <a:ln>
                <a:noFill/>
              </a:ln>
            </c:spPr>
          </c:marker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5y</c:v>
                </c:pt>
                <c:pt idx="2">
                  <c:v>10y</c:v>
                </c:pt>
                <c:pt idx="3">
                  <c:v>20y</c:v>
                </c:pt>
                <c:pt idx="4">
                  <c:v>30y</c:v>
                </c:pt>
                <c:pt idx="5">
                  <c:v>70y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3.15</c:v>
                </c:pt>
                <c:pt idx="1">
                  <c:v>3.69</c:v>
                </c:pt>
                <c:pt idx="2">
                  <c:v>4.5</c:v>
                </c:pt>
                <c:pt idx="3">
                  <c:v>5.59</c:v>
                </c:pt>
                <c:pt idx="4">
                  <c:v>5.75</c:v>
                </c:pt>
                <c:pt idx="5">
                  <c:v>4.39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5"/>
          <c:min val="2.5"/>
        </c:scaling>
        <c:delete val="0"/>
        <c:axPos val="l"/>
        <c:majorGridlines>
          <c:spPr>
            <a:ln>
              <a:solidFill>
                <a:srgbClr val="E6E8EB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Filed par curve, flat-equivalent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Sheet1!$A$2:$A$11</c:f>
              <c:strCache>
                <c:ptCount val="10"/>
                <c:pt idx="0">
                  <c:v>▸ RBC Life</c:v>
                </c:pt>
                <c:pt idx="1">
                  <c:v>Sun Life</c:v>
                </c:pt>
                <c:pt idx="2">
                  <c:v>Desjardins</c:v>
                </c:pt>
                <c:pt idx="3">
                  <c:v>Co-operators Life</c:v>
                </c:pt>
                <c:pt idx="4">
                  <c:v>Manulife</c:v>
                </c:pt>
                <c:pt idx="5">
                  <c:v>Empire Life</c:v>
                </c:pt>
                <c:pt idx="6">
                  <c:v>iA Financial</c:v>
                </c:pt>
                <c:pt idx="7">
                  <c:v>Assumption Life</c:v>
                </c:pt>
                <c:pt idx="8">
                  <c:v>Canada Life</c:v>
                </c:pt>
                <c:pt idx="9">
                  <c:v>Equitable Life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4.53</c:v>
                </c:pt>
                <c:pt idx="1">
                  <c:v>4.75</c:v>
                </c:pt>
                <c:pt idx="2">
                  <c:v>4.96</c:v>
                </c:pt>
                <c:pt idx="3">
                  <c:v>4.66</c:v>
                </c:pt>
                <c:pt idx="4">
                  <c:v>5.1</c:v>
                </c:pt>
                <c:pt idx="5">
                  <c:v>5.11</c:v>
                </c:pt>
                <c:pt idx="6">
                  <c:v>5.26</c:v>
                </c:pt>
                <c:pt idx="7">
                  <c:v>4.8</c:v>
                </c:pt>
                <c:pt idx="8">
                  <c:v>5.02</c:v>
                </c:pt>
                <c:pt idx="9">
                  <c:v>6.42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Dividend scale interest rate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Sheet1!$A$2:$A$11</c:f>
              <c:strCache>
                <c:ptCount val="10"/>
                <c:pt idx="0">
                  <c:v>▸ RBC Life</c:v>
                </c:pt>
                <c:pt idx="1">
                  <c:v>Sun Life</c:v>
                </c:pt>
                <c:pt idx="2">
                  <c:v>Desjardins</c:v>
                </c:pt>
                <c:pt idx="3">
                  <c:v>Co-operators Life</c:v>
                </c:pt>
                <c:pt idx="4">
                  <c:v>Manulife</c:v>
                </c:pt>
                <c:pt idx="5">
                  <c:v>Empire Life</c:v>
                </c:pt>
                <c:pt idx="6">
                  <c:v>iA Financial</c:v>
                </c:pt>
                <c:pt idx="7">
                  <c:v>Assumption Life</c:v>
                </c:pt>
                <c:pt idx="8">
                  <c:v>Canada Life</c:v>
                </c:pt>
                <c:pt idx="9">
                  <c:v>Equitable Life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6.3</c:v>
                </c:pt>
                <c:pt idx="1">
                  <c:v>6.25</c:v>
                </c:pt>
                <c:pt idx="2">
                  <c:v>6.3</c:v>
                </c:pt>
                <c:pt idx="3">
                  <c:v>6.0</c:v>
                </c:pt>
                <c:pt idx="4">
                  <c:v>6.35</c:v>
                </c:pt>
                <c:pt idx="5">
                  <c:v>6.25</c:v>
                </c:pt>
                <c:pt idx="6">
                  <c:v>6.35</c:v>
                </c:pt>
                <c:pt idx="7">
                  <c:v>5.75</c:v>
                </c:pt>
                <c:pt idx="8">
                  <c:v>5.75</c:v>
                </c:pt>
                <c:pt idx="9">
                  <c:v>6.4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5"/>
          <c:min val="0.0"/>
        </c:scaling>
        <c:delete/>
        <c:axPos val="b"/>
        <c:majorGridlines>
          <c:spPr>
            <a:ln>
              <a:solidFill>
                <a:srgbClr val="E6E8EB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Public fixed income</c:v>
                </c:pt>
              </c:strCache>
            </c:strRef>
          </c:tx>
          <c:spPr>
            <a:solidFill>
              <a:srgbClr val="1F3A5F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49%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45%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49%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54%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FFFFFF"/>
                        </a:solidFill>
                        <a:latin typeface="Arial"/>
                      </a:rPr>
                      <a:t>64%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72%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53%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44%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75%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38%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67%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81%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74%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79%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63%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66%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6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92%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7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78%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Manulife</c:v>
                </c:pt>
                <c:pt idx="1">
                  <c:v>Sun Life</c:v>
                </c:pt>
                <c:pt idx="2">
                  <c:v>Canada Life</c:v>
                </c:pt>
                <c:pt idx="3">
                  <c:v>iA Financial</c:v>
                </c:pt>
                <c:pt idx="4">
                  <c:v>▸ RBC Life</c:v>
                </c:pt>
                <c:pt idx="5">
                  <c:v>BMO Life</c:v>
                </c:pt>
                <c:pt idx="6">
                  <c:v>Beneva</c:v>
                </c:pt>
                <c:pt idx="7">
                  <c:v>ivari</c:v>
                </c:pt>
                <c:pt idx="8">
                  <c:v>Empire Life</c:v>
                </c:pt>
                <c:pt idx="9">
                  <c:v>Equitable Life</c:v>
                </c:pt>
                <c:pt idx="10">
                  <c:v>Co-operators Life</c:v>
                </c:pt>
                <c:pt idx="11">
                  <c:v>UV Insurance</c:v>
                </c:pt>
                <c:pt idx="12">
                  <c:v>Wawanesa Life</c:v>
                </c:pt>
                <c:pt idx="13">
                  <c:v>Foresters Life</c:v>
                </c:pt>
                <c:pt idx="14">
                  <c:v>Assumption Life</c:v>
                </c:pt>
                <c:pt idx="15">
                  <c:v>Canadian Premier</c:v>
                </c:pt>
                <c:pt idx="16">
                  <c:v>Primerica Life</c:v>
                </c:pt>
                <c:pt idx="17">
                  <c:v>Humania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0.4938</c:v>
                </c:pt>
                <c:pt idx="1">
                  <c:v>0.4469</c:v>
                </c:pt>
                <c:pt idx="2">
                  <c:v>0.4933</c:v>
                </c:pt>
                <c:pt idx="3">
                  <c:v>0.5394</c:v>
                </c:pt>
                <c:pt idx="4">
                  <c:v>0.6432</c:v>
                </c:pt>
                <c:pt idx="5">
                  <c:v>0.7156</c:v>
                </c:pt>
                <c:pt idx="6">
                  <c:v>0.529</c:v>
                </c:pt>
                <c:pt idx="7">
                  <c:v>0.4382</c:v>
                </c:pt>
                <c:pt idx="8">
                  <c:v>0.7477</c:v>
                </c:pt>
                <c:pt idx="9">
                  <c:v>0.3845</c:v>
                </c:pt>
                <c:pt idx="10">
                  <c:v>0.668</c:v>
                </c:pt>
                <c:pt idx="11">
                  <c:v>0.8062</c:v>
                </c:pt>
                <c:pt idx="12">
                  <c:v>0.739</c:v>
                </c:pt>
                <c:pt idx="13">
                  <c:v>0.7947</c:v>
                </c:pt>
                <c:pt idx="14">
                  <c:v>0.6328</c:v>
                </c:pt>
                <c:pt idx="15">
                  <c:v>0.6633</c:v>
                </c:pt>
                <c:pt idx="16">
                  <c:v>0.9179</c:v>
                </c:pt>
                <c:pt idx="17">
                  <c:v>0.78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Public equity</c:v>
                </c:pt>
              </c:strCache>
            </c:strRef>
          </c:tx>
          <c:spPr>
            <a:solidFill>
              <a:srgbClr val="4A6F9C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11%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10%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FFFFFF"/>
                        </a:solidFill>
                        <a:latin typeface="Arial"/>
                      </a:rPr>
                      <a:t>13%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11%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34%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13%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36%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21%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5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26%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Manulife</c:v>
                </c:pt>
                <c:pt idx="1">
                  <c:v>Sun Life</c:v>
                </c:pt>
                <c:pt idx="2">
                  <c:v>Canada Life</c:v>
                </c:pt>
                <c:pt idx="3">
                  <c:v>iA Financial</c:v>
                </c:pt>
                <c:pt idx="4">
                  <c:v>▸ RBC Life</c:v>
                </c:pt>
                <c:pt idx="5">
                  <c:v>BMO Life</c:v>
                </c:pt>
                <c:pt idx="6">
                  <c:v>Beneva</c:v>
                </c:pt>
                <c:pt idx="7">
                  <c:v>ivari</c:v>
                </c:pt>
                <c:pt idx="8">
                  <c:v>Empire Life</c:v>
                </c:pt>
                <c:pt idx="9">
                  <c:v>Equitable Life</c:v>
                </c:pt>
                <c:pt idx="10">
                  <c:v>Co-operators Life</c:v>
                </c:pt>
                <c:pt idx="11">
                  <c:v>UV Insurance</c:v>
                </c:pt>
                <c:pt idx="12">
                  <c:v>Wawanesa Life</c:v>
                </c:pt>
                <c:pt idx="13">
                  <c:v>Foresters Life</c:v>
                </c:pt>
                <c:pt idx="14">
                  <c:v>Assumption Life</c:v>
                </c:pt>
                <c:pt idx="15">
                  <c:v>Canadian Premier</c:v>
                </c:pt>
                <c:pt idx="16">
                  <c:v>Primerica Life</c:v>
                </c:pt>
                <c:pt idx="17">
                  <c:v>Humania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0.107</c:v>
                </c:pt>
                <c:pt idx="1">
                  <c:v>0.0685</c:v>
                </c:pt>
                <c:pt idx="2">
                  <c:v>0.032</c:v>
                </c:pt>
                <c:pt idx="3">
                  <c:v>0.0959</c:v>
                </c:pt>
                <c:pt idx="4">
                  <c:v>0.1252</c:v>
                </c:pt>
                <c:pt idx="5">
                  <c:v>0.0949</c:v>
                </c:pt>
                <c:pt idx="6">
                  <c:v>0.1146</c:v>
                </c:pt>
                <c:pt idx="7">
                  <c:v>0.3423</c:v>
                </c:pt>
                <c:pt idx="8">
                  <c:v>0.1305</c:v>
                </c:pt>
                <c:pt idx="9">
                  <c:v>0.356</c:v>
                </c:pt>
                <c:pt idx="10">
                  <c:v>0.2055</c:v>
                </c:pt>
                <c:pt idx="11">
                  <c:v>0.0941</c:v>
                </c:pt>
                <c:pt idx="12">
                  <c:v>0.0436</c:v>
                </c:pt>
                <c:pt idx="13">
                  <c:v>0.0936</c:v>
                </c:pt>
                <c:pt idx="14">
                  <c:v>0.081</c:v>
                </c:pt>
                <c:pt idx="15">
                  <c:v>0.2635</c:v>
                </c:pt>
                <c:pt idx="16">
                  <c:v>0.0</c:v>
                </c:pt>
                <c:pt idx="17">
                  <c:v>0.0012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Private fixed income</c:v>
                </c:pt>
              </c:strCache>
            </c:strRef>
          </c:tx>
          <c:spPr>
            <a:solidFill>
              <a:srgbClr val="8FAED1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20%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28%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38%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21%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200" b="1" i="0">
                        <a:solidFill>
                          <a:srgbClr val="333333"/>
                        </a:solidFill>
                        <a:latin typeface="Arial"/>
                      </a:rPr>
                      <a:t>19%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11%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18%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4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22%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Manulife</c:v>
                </c:pt>
                <c:pt idx="1">
                  <c:v>Sun Life</c:v>
                </c:pt>
                <c:pt idx="2">
                  <c:v>Canada Life</c:v>
                </c:pt>
                <c:pt idx="3">
                  <c:v>iA Financial</c:v>
                </c:pt>
                <c:pt idx="4">
                  <c:v>▸ RBC Life</c:v>
                </c:pt>
                <c:pt idx="5">
                  <c:v>BMO Life</c:v>
                </c:pt>
                <c:pt idx="6">
                  <c:v>Beneva</c:v>
                </c:pt>
                <c:pt idx="7">
                  <c:v>ivari</c:v>
                </c:pt>
                <c:pt idx="8">
                  <c:v>Empire Life</c:v>
                </c:pt>
                <c:pt idx="9">
                  <c:v>Equitable Life</c:v>
                </c:pt>
                <c:pt idx="10">
                  <c:v>Co-operators Life</c:v>
                </c:pt>
                <c:pt idx="11">
                  <c:v>UV Insurance</c:v>
                </c:pt>
                <c:pt idx="12">
                  <c:v>Wawanesa Life</c:v>
                </c:pt>
                <c:pt idx="13">
                  <c:v>Foresters Life</c:v>
                </c:pt>
                <c:pt idx="14">
                  <c:v>Assumption Life</c:v>
                </c:pt>
                <c:pt idx="15">
                  <c:v>Canadian Premier</c:v>
                </c:pt>
                <c:pt idx="16">
                  <c:v>Primerica Life</c:v>
                </c:pt>
                <c:pt idx="17">
                  <c:v>Humania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0.2001</c:v>
                </c:pt>
                <c:pt idx="1">
                  <c:v>0.2834</c:v>
                </c:pt>
                <c:pt idx="2">
                  <c:v>0.3802</c:v>
                </c:pt>
                <c:pt idx="3">
                  <c:v>0.207</c:v>
                </c:pt>
                <c:pt idx="4">
                  <c:v>0.194</c:v>
                </c:pt>
                <c:pt idx="5">
                  <c:v>0.033</c:v>
                </c:pt>
                <c:pt idx="6">
                  <c:v>0.1116</c:v>
                </c:pt>
                <c:pt idx="7">
                  <c:v>0.076</c:v>
                </c:pt>
                <c:pt idx="8">
                  <c:v>0.0813</c:v>
                </c:pt>
                <c:pt idx="9">
                  <c:v>0.1842</c:v>
                </c:pt>
                <c:pt idx="10">
                  <c:v>0.0727</c:v>
                </c:pt>
                <c:pt idx="11">
                  <c:v>0.022</c:v>
                </c:pt>
                <c:pt idx="12">
                  <c:v>0.0</c:v>
                </c:pt>
                <c:pt idx="13">
                  <c:v>0.0</c:v>
                </c:pt>
                <c:pt idx="14">
                  <c:v>0.224</c:v>
                </c:pt>
                <c:pt idx="15">
                  <c:v>0.0</c:v>
                </c:pt>
                <c:pt idx="16">
                  <c:v>0.0</c:v>
                </c:pt>
                <c:pt idx="17">
                  <c:v>0.067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Alternatives (RE, infra, PE, private debt)</c:v>
                </c:pt>
              </c:strCache>
            </c:strRef>
          </c:tx>
          <c:spPr>
            <a:solidFill>
              <a:srgbClr val="D9822B"/>
            </a:solidFill>
            <a:ln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14%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13%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11%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14%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21%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7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FFFFFF"/>
                        </a:solidFill>
                        <a:latin typeface="Arial"/>
                      </a:rPr>
                      <a:t>9%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Manulife</c:v>
                </c:pt>
                <c:pt idx="1">
                  <c:v>Sun Life</c:v>
                </c:pt>
                <c:pt idx="2">
                  <c:v>Canada Life</c:v>
                </c:pt>
                <c:pt idx="3">
                  <c:v>iA Financial</c:v>
                </c:pt>
                <c:pt idx="4">
                  <c:v>▸ RBC Life</c:v>
                </c:pt>
                <c:pt idx="5">
                  <c:v>BMO Life</c:v>
                </c:pt>
                <c:pt idx="6">
                  <c:v>Beneva</c:v>
                </c:pt>
                <c:pt idx="7">
                  <c:v>ivari</c:v>
                </c:pt>
                <c:pt idx="8">
                  <c:v>Empire Life</c:v>
                </c:pt>
                <c:pt idx="9">
                  <c:v>Equitable Life</c:v>
                </c:pt>
                <c:pt idx="10">
                  <c:v>Co-operators Life</c:v>
                </c:pt>
                <c:pt idx="11">
                  <c:v>UV Insurance</c:v>
                </c:pt>
                <c:pt idx="12">
                  <c:v>Wawanesa Life</c:v>
                </c:pt>
                <c:pt idx="13">
                  <c:v>Foresters Life</c:v>
                </c:pt>
                <c:pt idx="14">
                  <c:v>Assumption Life</c:v>
                </c:pt>
                <c:pt idx="15">
                  <c:v>Canadian Premier</c:v>
                </c:pt>
                <c:pt idx="16">
                  <c:v>Primerica Life</c:v>
                </c:pt>
                <c:pt idx="17">
                  <c:v>Humania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0.1381</c:v>
                </c:pt>
                <c:pt idx="1">
                  <c:v>0.1303</c:v>
                </c:pt>
                <c:pt idx="2">
                  <c:v>0.0457</c:v>
                </c:pt>
                <c:pt idx="3">
                  <c:v>0.1051</c:v>
                </c:pt>
                <c:pt idx="4">
                  <c:v>0.0214</c:v>
                </c:pt>
                <c:pt idx="5">
                  <c:v>0.0818</c:v>
                </c:pt>
                <c:pt idx="6">
                  <c:v>0.1378</c:v>
                </c:pt>
                <c:pt idx="7">
                  <c:v>0.0126</c:v>
                </c:pt>
                <c:pt idx="8">
                  <c:v>0.0111</c:v>
                </c:pt>
                <c:pt idx="9">
                  <c:v>0.0658</c:v>
                </c:pt>
                <c:pt idx="10">
                  <c:v>0.0174</c:v>
                </c:pt>
                <c:pt idx="11">
                  <c:v>0.0429</c:v>
                </c:pt>
                <c:pt idx="12">
                  <c:v>0.2142</c:v>
                </c:pt>
                <c:pt idx="13">
                  <c:v>0.0574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0.0914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Cash and other</c:v>
                </c:pt>
              </c:strCache>
            </c:strRef>
          </c:tx>
          <c:spPr>
            <a:solidFill>
              <a:srgbClr val="9AA5B1"/>
            </a:solidFill>
            <a:ln>
              <a:solidFill>
                <a:srgbClr val="FFFFFF"/>
              </a:solidFill>
            </a:ln>
          </c:spPr>
          <c:dLbls>
            <c:dLbl>
              <c:idx val="6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11%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200" b="0" i="0">
                        <a:solidFill>
                          <a:srgbClr val="333333"/>
                        </a:solidFill>
                        <a:latin typeface="Arial"/>
                      </a:rPr>
                      <a:t>13%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Manulife</c:v>
                </c:pt>
                <c:pt idx="1">
                  <c:v>Sun Life</c:v>
                </c:pt>
                <c:pt idx="2">
                  <c:v>Canada Life</c:v>
                </c:pt>
                <c:pt idx="3">
                  <c:v>iA Financial</c:v>
                </c:pt>
                <c:pt idx="4">
                  <c:v>▸ RBC Life</c:v>
                </c:pt>
                <c:pt idx="5">
                  <c:v>BMO Life</c:v>
                </c:pt>
                <c:pt idx="6">
                  <c:v>Beneva</c:v>
                </c:pt>
                <c:pt idx="7">
                  <c:v>ivari</c:v>
                </c:pt>
                <c:pt idx="8">
                  <c:v>Empire Life</c:v>
                </c:pt>
                <c:pt idx="9">
                  <c:v>Equitable Life</c:v>
                </c:pt>
                <c:pt idx="10">
                  <c:v>Co-operators Life</c:v>
                </c:pt>
                <c:pt idx="11">
                  <c:v>UV Insurance</c:v>
                </c:pt>
                <c:pt idx="12">
                  <c:v>Wawanesa Life</c:v>
                </c:pt>
                <c:pt idx="13">
                  <c:v>Foresters Life</c:v>
                </c:pt>
                <c:pt idx="14">
                  <c:v>Assumption Life</c:v>
                </c:pt>
                <c:pt idx="15">
                  <c:v>Canadian Premier</c:v>
                </c:pt>
                <c:pt idx="16">
                  <c:v>Primerica Life</c:v>
                </c:pt>
                <c:pt idx="17">
                  <c:v>Humania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0.061</c:v>
                </c:pt>
                <c:pt idx="1">
                  <c:v>0.0709</c:v>
                </c:pt>
                <c:pt idx="2">
                  <c:v>0.0488</c:v>
                </c:pt>
                <c:pt idx="3">
                  <c:v>0.0526</c:v>
                </c:pt>
                <c:pt idx="4">
                  <c:v>0.0162</c:v>
                </c:pt>
                <c:pt idx="5">
                  <c:v>0.0747</c:v>
                </c:pt>
                <c:pt idx="6">
                  <c:v>0.107</c:v>
                </c:pt>
                <c:pt idx="7">
                  <c:v>0.131</c:v>
                </c:pt>
                <c:pt idx="8">
                  <c:v>0.0294</c:v>
                </c:pt>
                <c:pt idx="9">
                  <c:v>0.0095</c:v>
                </c:pt>
                <c:pt idx="10">
                  <c:v>0.0364</c:v>
                </c:pt>
                <c:pt idx="11">
                  <c:v>0.0348</c:v>
                </c:pt>
                <c:pt idx="12">
                  <c:v>0.0032</c:v>
                </c:pt>
                <c:pt idx="13">
                  <c:v>0.0544</c:v>
                </c:pt>
                <c:pt idx="14">
                  <c:v>0.0623</c:v>
                </c:pt>
                <c:pt idx="15">
                  <c:v>0.0731</c:v>
                </c:pt>
                <c:pt idx="16">
                  <c:v>0.082</c:v>
                </c:pt>
                <c:pt idx="17">
                  <c:v>0.0603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300">
                <a:solidFill>
                  <a:srgbClr val="33333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Gridlines>
          <c:spPr>
            <a:ln>
              <a:solidFill>
                <a:srgbClr val="E6E8EB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Derivative notional, % of portfolio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Sheet1!$A$2:$A$11</c:f>
              <c:strCache>
                <c:ptCount val="10"/>
                <c:pt idx="0">
                  <c:v>iA Financial</c:v>
                </c:pt>
                <c:pt idx="1">
                  <c:v>Manulife</c:v>
                </c:pt>
                <c:pt idx="2">
                  <c:v>Canada Life</c:v>
                </c:pt>
                <c:pt idx="3">
                  <c:v>Sun Life</c:v>
                </c:pt>
                <c:pt idx="4">
                  <c:v>▸ RBC Life</c:v>
                </c:pt>
                <c:pt idx="5">
                  <c:v>Empire Life</c:v>
                </c:pt>
                <c:pt idx="6">
                  <c:v>BMO Life</c:v>
                </c:pt>
                <c:pt idx="7">
                  <c:v>Equitable Life</c:v>
                </c:pt>
                <c:pt idx="8">
                  <c:v>ivari</c:v>
                </c:pt>
                <c:pt idx="9">
                  <c:v>Co-operators Life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119.2</c:v>
                </c:pt>
                <c:pt idx="1">
                  <c:v>114.5</c:v>
                </c:pt>
                <c:pt idx="2">
                  <c:v>62.0</c:v>
                </c:pt>
                <c:pt idx="3">
                  <c:v>38.7</c:v>
                </c:pt>
                <c:pt idx="4">
                  <c:v>29.4</c:v>
                </c:pt>
                <c:pt idx="5">
                  <c:v>26.1</c:v>
                </c:pt>
                <c:pt idx="6">
                  <c:v>17.8</c:v>
                </c:pt>
                <c:pt idx="7">
                  <c:v>8.0</c:v>
                </c:pt>
                <c:pt idx="8">
                  <c:v>6.6</c:v>
                </c:pt>
                <c:pt idx="9">
                  <c:v>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Repos, % of portfolio</c:v>
                </c:pt>
              </c:strCache>
            </c:strRef>
          </c:tx>
          <c:spPr>
            <a:solidFill>
              <a:srgbClr val="1F3A5F"/>
            </a:solidFill>
          </c:spPr>
          <c:dPt>
            <c:idx val="4"/>
            <c:spPr>
              <a:solidFill>
                <a:srgbClr val="D9822B"/>
              </a:solidFill>
            </c:spPr>
          </c:dPt>
          <c:cat>
            <c:strRef>
              <c:f>Sheet1!$A$2:$A$11</c:f>
              <c:strCache>
                <c:ptCount val="10"/>
                <c:pt idx="0">
                  <c:v>iA Financial</c:v>
                </c:pt>
                <c:pt idx="1">
                  <c:v>Manulife</c:v>
                </c:pt>
                <c:pt idx="2">
                  <c:v>Canada Life</c:v>
                </c:pt>
                <c:pt idx="3">
                  <c:v>Sun Life</c:v>
                </c:pt>
                <c:pt idx="4">
                  <c:v>▸ RBC Life</c:v>
                </c:pt>
                <c:pt idx="5">
                  <c:v>Empire Life</c:v>
                </c:pt>
                <c:pt idx="6">
                  <c:v>BMO Life</c:v>
                </c:pt>
                <c:pt idx="7">
                  <c:v>Equitable Life</c:v>
                </c:pt>
                <c:pt idx="8">
                  <c:v>ivari</c:v>
                </c:pt>
                <c:pt idx="9">
                  <c:v>Co-operators Life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5.0</c:v>
                </c:pt>
                <c:pt idx="1">
                  <c:v>0.3</c:v>
                </c:pt>
                <c:pt idx="2">
                  <c:v>0.0</c:v>
                </c:pt>
                <c:pt idx="3">
                  <c:v>1.4</c:v>
                </c:pt>
                <c:pt idx="4">
                  <c:v>14.1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.0"/>
        </c:scaling>
        <c:delete/>
        <c:axPos val="b"/>
        <c:majorGridlines>
          <c:spPr>
            <a:ln>
              <a:solidFill>
                <a:srgbClr val="E6E8E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Capital ratio</c:v>
                </c:pt>
              </c:strCache>
            </c:strRef>
          </c:tx>
          <c:spPr>
            <a:solidFill>
              <a:srgbClr val="1F3A5F"/>
            </a:solidFill>
          </c:spPr>
          <c:invertIfNegative val="0"/>
          <c:dPt>
            <c:idx val="14"/>
            <c:spPr>
              <a:solidFill>
                <a:srgbClr val="D9822B"/>
              </a:solidFill>
            </c:spPr>
          </c:dPt>
          <c:dLbls>
            <c:dLbl>
              <c:idx val="14"/>
              <c:spPr/>
              <c:txPr>
                <a:bodyPr/>
                <a:lstStyle/>
                <a:p>
                  <a:pPr>
                    <a:defRPr b="1" sz="1400"/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4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Sheet1!$A$2:$A$18</c:f>
              <c:strCache>
                <c:ptCount val="17"/>
                <c:pt idx="0">
                  <c:v>Foresters Life</c:v>
                </c:pt>
                <c:pt idx="1">
                  <c:v>Primerica Life</c:v>
                </c:pt>
                <c:pt idx="2">
                  <c:v>Humania</c:v>
                </c:pt>
                <c:pt idx="3">
                  <c:v>Assumption Life</c:v>
                </c:pt>
                <c:pt idx="4">
                  <c:v>Wawanesa Life</c:v>
                </c:pt>
                <c:pt idx="5">
                  <c:v>Canadian Premier</c:v>
                </c:pt>
                <c:pt idx="6">
                  <c:v>Beneva</c:v>
                </c:pt>
                <c:pt idx="7">
                  <c:v>Co-operators Life</c:v>
                </c:pt>
                <c:pt idx="8">
                  <c:v>Equitable Life</c:v>
                </c:pt>
                <c:pt idx="9">
                  <c:v>Empire Life</c:v>
                </c:pt>
                <c:pt idx="10">
                  <c:v>Sun Life</c:v>
                </c:pt>
                <c:pt idx="11">
                  <c:v>iA Financial</c:v>
                </c:pt>
                <c:pt idx="12">
                  <c:v>Manulife</c:v>
                </c:pt>
                <c:pt idx="13">
                  <c:v>BMO Life</c:v>
                </c:pt>
                <c:pt idx="14">
                  <c:v>▸ RBC Life</c:v>
                </c:pt>
                <c:pt idx="15">
                  <c:v>ivari</c:v>
                </c:pt>
                <c:pt idx="16">
                  <c:v>Canada Life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208.0</c:v>
                </c:pt>
                <c:pt idx="1">
                  <c:v>194.0</c:v>
                </c:pt>
                <c:pt idx="2">
                  <c:v>185.0</c:v>
                </c:pt>
                <c:pt idx="3">
                  <c:v>167.0</c:v>
                </c:pt>
                <c:pt idx="4">
                  <c:v>167.0</c:v>
                </c:pt>
                <c:pt idx="5">
                  <c:v>164.0</c:v>
                </c:pt>
                <c:pt idx="6">
                  <c:v>163.0</c:v>
                </c:pt>
                <c:pt idx="7">
                  <c:v>160.0</c:v>
                </c:pt>
                <c:pt idx="8">
                  <c:v>159.0</c:v>
                </c:pt>
                <c:pt idx="9">
                  <c:v>153.0</c:v>
                </c:pt>
                <c:pt idx="10">
                  <c:v>140.0</c:v>
                </c:pt>
                <c:pt idx="11">
                  <c:v>137.0</c:v>
                </c:pt>
                <c:pt idx="12">
                  <c:v>136.0</c:v>
                </c:pt>
                <c:pt idx="13">
                  <c:v>134.0</c:v>
                </c:pt>
                <c:pt idx="14">
                  <c:v>132.0</c:v>
                </c:pt>
                <c:pt idx="15">
                  <c:v>129.0</c:v>
                </c:pt>
                <c:pt idx="16">
                  <c:v>128.0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4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0.0"/>
          <c:min val="0.0"/>
        </c:scaling>
        <c:delete/>
        <c:axPos val="b"/>
        <c:majorGridlines>
          <c:spPr>
            <a:ln>
              <a:solidFill>
                <a:srgbClr val="E6E8EB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Energy, % corporate bonds</c:v>
                </c:pt>
              </c:strCache>
            </c:strRef>
          </c:tx>
          <c:spPr>
            <a:solidFill>
              <a:srgbClr val="1F3A5F"/>
            </a:solidFill>
          </c:spPr>
          <c:invertIfNegative val="0"/>
          <c:dPt>
            <c:idx val="0"/>
            <c:spPr>
              <a:solidFill>
                <a:srgbClr val="D9822B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b="1" sz="1400"/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4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▸ RBC Life</c:v>
                </c:pt>
                <c:pt idx="1">
                  <c:v>Co-operators Life</c:v>
                </c:pt>
                <c:pt idx="2">
                  <c:v>Equitable Life</c:v>
                </c:pt>
                <c:pt idx="3">
                  <c:v>Empire Life</c:v>
                </c:pt>
                <c:pt idx="4">
                  <c:v>ivari</c:v>
                </c:pt>
                <c:pt idx="5">
                  <c:v>BMO Life</c:v>
                </c:pt>
                <c:pt idx="6">
                  <c:v>Wawanesa Life</c:v>
                </c:pt>
                <c:pt idx="7">
                  <c:v>Primerica Life</c:v>
                </c:pt>
                <c:pt idx="8">
                  <c:v>Manulife</c:v>
                </c:pt>
                <c:pt idx="9">
                  <c:v>Canadian Premier</c:v>
                </c:pt>
                <c:pt idx="10">
                  <c:v>Foresters Life</c:v>
                </c:pt>
                <c:pt idx="11">
                  <c:v>Canada Life</c:v>
                </c:pt>
                <c:pt idx="12">
                  <c:v>Sun Life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37.6</c:v>
                </c:pt>
                <c:pt idx="1">
                  <c:v>25.1</c:v>
                </c:pt>
                <c:pt idx="2">
                  <c:v>24.5</c:v>
                </c:pt>
                <c:pt idx="3">
                  <c:v>18.0</c:v>
                </c:pt>
                <c:pt idx="4">
                  <c:v>16.7</c:v>
                </c:pt>
                <c:pt idx="5">
                  <c:v>15.0</c:v>
                </c:pt>
                <c:pt idx="6">
                  <c:v>10.7</c:v>
                </c:pt>
                <c:pt idx="7">
                  <c:v>10.5</c:v>
                </c:pt>
                <c:pt idx="8">
                  <c:v>9.5</c:v>
                </c:pt>
                <c:pt idx="9">
                  <c:v>8.3</c:v>
                </c:pt>
                <c:pt idx="10">
                  <c:v>8.2</c:v>
                </c:pt>
                <c:pt idx="11">
                  <c:v>6.6</c:v>
                </c:pt>
                <c:pt idx="12">
                  <c:v>6.1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4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/>
        <c:axPos val="b"/>
        <c:majorGridlines>
          <c:spPr>
            <a:ln>
              <a:solidFill>
                <a:srgbClr val="E6E8EB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Liquidity-weighted assets</c:v>
                </c:pt>
              </c:strCache>
            </c:strRef>
          </c:tx>
          <c:spPr>
            <a:solidFill>
              <a:srgbClr val="1F3A5F"/>
            </a:solidFill>
          </c:spPr>
          <c:invertIfNegative val="0"/>
          <c:dPt>
            <c:idx val="9"/>
            <c:spPr>
              <a:solidFill>
                <a:srgbClr val="D9822B"/>
              </a:solidFill>
            </c:spPr>
          </c:dPt>
          <c:dLbls>
            <c:dLbl>
              <c:idx val="9"/>
              <c:spPr/>
              <c:txPr>
                <a:bodyPr/>
                <a:lstStyle/>
                <a:p>
                  <a:pPr>
                    <a:defRPr b="1" sz="1400"/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1400"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Primerica Life</c:v>
                </c:pt>
                <c:pt idx="1">
                  <c:v>Foresters Life</c:v>
                </c:pt>
                <c:pt idx="2">
                  <c:v>Canadian Premier</c:v>
                </c:pt>
                <c:pt idx="3">
                  <c:v>Empire Life</c:v>
                </c:pt>
                <c:pt idx="4">
                  <c:v>Co-operators Life</c:v>
                </c:pt>
                <c:pt idx="5">
                  <c:v>Assumption Life</c:v>
                </c:pt>
                <c:pt idx="6">
                  <c:v>BMO Life</c:v>
                </c:pt>
                <c:pt idx="7">
                  <c:v>UV Insurance</c:v>
                </c:pt>
                <c:pt idx="8">
                  <c:v>ivari</c:v>
                </c:pt>
                <c:pt idx="9">
                  <c:v>▸ RBC Life</c:v>
                </c:pt>
                <c:pt idx="10">
                  <c:v>Humania</c:v>
                </c:pt>
                <c:pt idx="11">
                  <c:v>Wawanesa Life</c:v>
                </c:pt>
                <c:pt idx="12">
                  <c:v>Beneva</c:v>
                </c:pt>
                <c:pt idx="13">
                  <c:v>Equitable Life</c:v>
                </c:pt>
                <c:pt idx="14">
                  <c:v>Canada Life</c:v>
                </c:pt>
                <c:pt idx="15">
                  <c:v>Manulife</c:v>
                </c:pt>
                <c:pt idx="16">
                  <c:v>iA Financial</c:v>
                </c:pt>
                <c:pt idx="17">
                  <c:v>Sun Life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90.2</c:v>
                </c:pt>
                <c:pt idx="1">
                  <c:v>83.8</c:v>
                </c:pt>
                <c:pt idx="2">
                  <c:v>83.8</c:v>
                </c:pt>
                <c:pt idx="3">
                  <c:v>82.8</c:v>
                </c:pt>
                <c:pt idx="4">
                  <c:v>81.7</c:v>
                </c:pt>
                <c:pt idx="5">
                  <c:v>81.7</c:v>
                </c:pt>
                <c:pt idx="6">
                  <c:v>79.6</c:v>
                </c:pt>
                <c:pt idx="7">
                  <c:v>79.5</c:v>
                </c:pt>
                <c:pt idx="8">
                  <c:v>79.3</c:v>
                </c:pt>
                <c:pt idx="9">
                  <c:v>77.2</c:v>
                </c:pt>
                <c:pt idx="10">
                  <c:v>74.4</c:v>
                </c:pt>
                <c:pt idx="11">
                  <c:v>73.5</c:v>
                </c:pt>
                <c:pt idx="12">
                  <c:v>70.0</c:v>
                </c:pt>
                <c:pt idx="13">
                  <c:v>69.4</c:v>
                </c:pt>
                <c:pt idx="14">
                  <c:v>69.1</c:v>
                </c:pt>
                <c:pt idx="15">
                  <c:v>68.4</c:v>
                </c:pt>
                <c:pt idx="16">
                  <c:v>68.2</c:v>
                </c:pt>
                <c:pt idx="17">
                  <c:v>64.8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4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low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Gridlines>
          <c:spPr>
            <a:ln>
              <a:solidFill>
                <a:srgbClr val="E6E8EB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Rates ±50 bp (worse)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Sheet1!$A$2:$A$11</c:f>
              <c:strCache>
                <c:ptCount val="10"/>
                <c:pt idx="0">
                  <c:v>Wawanesa Life (336)</c:v>
                </c:pt>
                <c:pt idx="1">
                  <c:v>Equitable Life (248)</c:v>
                </c:pt>
                <c:pt idx="2">
                  <c:v>iA Financial (244)</c:v>
                </c:pt>
                <c:pt idx="3">
                  <c:v>Empire Life (158)</c:v>
                </c:pt>
                <c:pt idx="4">
                  <c:v>Manulife (150)</c:v>
                </c:pt>
                <c:pt idx="5">
                  <c:v>Beneva (122)</c:v>
                </c:pt>
                <c:pt idx="6">
                  <c:v>Sun Life (94)</c:v>
                </c:pt>
                <c:pt idx="7">
                  <c:v>Foresters Life (86)</c:v>
                </c:pt>
                <c:pt idx="8">
                  <c:v>Canada Life (70)</c:v>
                </c:pt>
                <c:pt idx="9">
                  <c:v>Assumption Life (16)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140.1</c:v>
                </c:pt>
                <c:pt idx="1">
                  <c:v>10.5</c:v>
                </c:pt>
                <c:pt idx="2">
                  <c:v>13.6</c:v>
                </c:pt>
                <c:pt idx="3">
                  <c:v>117.7</c:v>
                </c:pt>
                <c:pt idx="4">
                  <c:v>5.4</c:v>
                </c:pt>
                <c:pt idx="5">
                  <c:v>0.0</c:v>
                </c:pt>
                <c:pt idx="6">
                  <c:v>3.1</c:v>
                </c:pt>
                <c:pt idx="7">
                  <c:v>86.2</c:v>
                </c:pt>
                <c:pt idx="8">
                  <c:v>5.0</c:v>
                </c:pt>
                <c:pt idx="9">
                  <c:v>15.6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Spreads +50 bp</c:v>
                </c:pt>
              </c:strCache>
            </c:strRef>
          </c:tx>
          <c:spPr>
            <a:solidFill>
              <a:srgbClr val="8FAED1"/>
            </a:solidFill>
          </c:spPr>
          <c:cat>
            <c:strRef>
              <c:f>Sheet1!$A$2:$A$11</c:f>
              <c:strCache>
                <c:ptCount val="10"/>
                <c:pt idx="0">
                  <c:v>Wawanesa Life (336)</c:v>
                </c:pt>
                <c:pt idx="1">
                  <c:v>Equitable Life (248)</c:v>
                </c:pt>
                <c:pt idx="2">
                  <c:v>iA Financial (244)</c:v>
                </c:pt>
                <c:pt idx="3">
                  <c:v>Empire Life (158)</c:v>
                </c:pt>
                <c:pt idx="4">
                  <c:v>Manulife (150)</c:v>
                </c:pt>
                <c:pt idx="5">
                  <c:v>Beneva (122)</c:v>
                </c:pt>
                <c:pt idx="6">
                  <c:v>Sun Life (94)</c:v>
                </c:pt>
                <c:pt idx="7">
                  <c:v>Foresters Life (86)</c:v>
                </c:pt>
                <c:pt idx="8">
                  <c:v>Canada Life (70)</c:v>
                </c:pt>
                <c:pt idx="9">
                  <c:v>Assumption Life (16)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13.6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3.1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Equity −10%</c:v>
                </c:pt>
              </c:strCache>
            </c:strRef>
          </c:tx>
          <c:spPr>
            <a:solidFill>
              <a:srgbClr val="9AA5B1"/>
            </a:solidFill>
          </c:spPr>
          <c:cat>
            <c:strRef>
              <c:f>Sheet1!$A$2:$A$11</c:f>
              <c:strCache>
                <c:ptCount val="10"/>
                <c:pt idx="0">
                  <c:v>Wawanesa Life (336)</c:v>
                </c:pt>
                <c:pt idx="1">
                  <c:v>Equitable Life (248)</c:v>
                </c:pt>
                <c:pt idx="2">
                  <c:v>iA Financial (244)</c:v>
                </c:pt>
                <c:pt idx="3">
                  <c:v>Empire Life (158)</c:v>
                </c:pt>
                <c:pt idx="4">
                  <c:v>Manulife (150)</c:v>
                </c:pt>
                <c:pt idx="5">
                  <c:v>Beneva (122)</c:v>
                </c:pt>
                <c:pt idx="6">
                  <c:v>Sun Life (94)</c:v>
                </c:pt>
                <c:pt idx="7">
                  <c:v>Foresters Life (86)</c:v>
                </c:pt>
                <c:pt idx="8">
                  <c:v>Canada Life (70)</c:v>
                </c:pt>
                <c:pt idx="9">
                  <c:v>Assumption Life (16)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195.9</c:v>
                </c:pt>
                <c:pt idx="1">
                  <c:v>157.3</c:v>
                </c:pt>
                <c:pt idx="2">
                  <c:v>54.3</c:v>
                </c:pt>
                <c:pt idx="3">
                  <c:v>40.1</c:v>
                </c:pt>
                <c:pt idx="4">
                  <c:v>24.5</c:v>
                </c:pt>
                <c:pt idx="5">
                  <c:v>122.5</c:v>
                </c:pt>
                <c:pt idx="6">
                  <c:v>28.2</c:v>
                </c:pt>
                <c:pt idx="7">
                  <c:v>0.0</c:v>
                </c:pt>
                <c:pt idx="8">
                  <c:v>5.0</c:v>
                </c:pt>
                <c:pt idx="9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Alternatives −10%</c:v>
                </c:pt>
              </c:strCache>
            </c:strRef>
          </c:tx>
          <c:spPr>
            <a:solidFill>
              <a:srgbClr val="D9822B"/>
            </a:solidFill>
          </c:spPr>
          <c:cat>
            <c:strRef>
              <c:f>Sheet1!$A$2:$A$11</c:f>
              <c:strCache>
                <c:ptCount val="10"/>
                <c:pt idx="0">
                  <c:v>Wawanesa Life (336)</c:v>
                </c:pt>
                <c:pt idx="1">
                  <c:v>Equitable Life (248)</c:v>
                </c:pt>
                <c:pt idx="2">
                  <c:v>iA Financial (244)</c:v>
                </c:pt>
                <c:pt idx="3">
                  <c:v>Empire Life (158)</c:v>
                </c:pt>
                <c:pt idx="4">
                  <c:v>Manulife (150)</c:v>
                </c:pt>
                <c:pt idx="5">
                  <c:v>Beneva (122)</c:v>
                </c:pt>
                <c:pt idx="6">
                  <c:v>Sun Life (94)</c:v>
                </c:pt>
                <c:pt idx="7">
                  <c:v>Foresters Life (86)</c:v>
                </c:pt>
                <c:pt idx="8">
                  <c:v>Canada Life (70)</c:v>
                </c:pt>
                <c:pt idx="9">
                  <c:v>Assumption Life (16)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0.0</c:v>
                </c:pt>
                <c:pt idx="1">
                  <c:v>79.8</c:v>
                </c:pt>
                <c:pt idx="2">
                  <c:v>163.0</c:v>
                </c:pt>
                <c:pt idx="3">
                  <c:v>0.0</c:v>
                </c:pt>
                <c:pt idx="4">
                  <c:v>119.6</c:v>
                </c:pt>
                <c:pt idx="5">
                  <c:v>0.0</c:v>
                </c:pt>
                <c:pt idx="6">
                  <c:v>59.6</c:v>
                </c:pt>
                <c:pt idx="7">
                  <c:v>0.0</c:v>
                </c:pt>
                <c:pt idx="8">
                  <c:v>60.0</c:v>
                </c:pt>
                <c:pt idx="9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00.0"/>
        </c:scaling>
        <c:delete val="0"/>
        <c:axPos val="b"/>
        <c:majorGridlines>
          <c:spPr>
            <a:ln>
              <a:solidFill>
                <a:srgbClr val="E6E8E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400">
                <a:solidFill>
                  <a:srgbClr val="333333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latin typeface="Arial"/>
            </a:defRPr>
          </a:pPr>
        </a:p>
      </c:txPr>
    </c:legend>
    <c:dispBlanksAs val="gap"/>
  </c:chart>
  <c:txPr>
    <a:bodyPr/>
    <a:lstStyle/>
    <a:p>
      <a:pPr>
        <a:defRPr sz="14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Canadian life &amp; health insurers: peer investment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RBC Life against 19 peers: discount curves, portfolio composition and investment risk (market, credit, liquidity)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C8D3E0"/>
                </a:solidFill>
                <a:latin typeface="Arial"/>
              </a:rPr>
              <a:t>Data as at year end 2025 and the latest 2026 filings. Prepared 28 October 2026.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C8D3E0"/>
                </a:solidFill>
                <a:latin typeface="Arial"/>
              </a:rPr>
              <a:t>Built with the financial-analysis plugin's competitive-analysis framework.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RBC Life runs a high-quality but thinly capitalised book, with two concentrations peers do not have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analyses on the following slides; peer medians exclude no insurer. Scale: C$ general-account invested assets at each insurer's latest filing.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700" b="1" i="0">
                <a:solidFill>
                  <a:srgbClr val="333333"/>
                </a:solidFill>
                <a:latin typeface="Arial"/>
              </a:rPr>
              <a:t>Scale and capital. </a:t>
            </a:r>
            <a:r>
              <a:rPr sz="1700" b="0" i="0">
                <a:solidFill>
                  <a:srgbClr val="333333"/>
                </a:solidFill>
                <a:latin typeface="Arial"/>
              </a:rPr>
              <a:t>RBC Life is the 5th largest general account (C$25.7Bn of 18) but its 132% LICAT ratio is the third-lowest of 17, 27 points under the 159% median.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700" b="1" i="0">
                <a:solidFill>
                  <a:srgbClr val="333333"/>
                </a:solidFill>
                <a:latin typeface="Arial"/>
              </a:rPr>
              <a:t>Discount curve. </a:t>
            </a:r>
            <a:r>
              <a:rPr sz="1700" b="0" i="0">
                <a:solidFill>
                  <a:srgbClr val="333333"/>
                </a:solidFill>
                <a:latin typeface="Arial"/>
              </a:rPr>
              <a:t>Its IFRS 17 curve values liabilities 0.24% below the peer median (C$24MM per C$10Bn), inside a C$876MM range from iA (most generous) to Primerica (most conservative).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700" b="1" i="0">
                <a:solidFill>
                  <a:srgbClr val="333333"/>
                </a:solidFill>
                <a:latin typeface="Arial"/>
              </a:rPr>
              <a:t>Portfolio mix. </a:t>
            </a:r>
            <a:r>
              <a:rPr sz="1700" b="0" i="0">
                <a:solidFill>
                  <a:srgbClr val="333333"/>
                </a:solidFill>
                <a:latin typeface="Arial"/>
              </a:rPr>
              <a:t>Public bonds dominate (64%), private credit is 19.4% (4th highest of 18) and alternatives are small (2.1%).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700" b="1" i="0">
                <a:solidFill>
                  <a:srgbClr val="333333"/>
                </a:solidFill>
                <a:latin typeface="Arial"/>
              </a:rPr>
              <a:t>Concentrations. </a:t>
            </a:r>
            <a:r>
              <a:rPr sz="1700" b="0" i="0">
                <a:solidFill>
                  <a:srgbClr val="333333"/>
                </a:solidFill>
                <a:latin typeface="Arial"/>
              </a:rPr>
              <a:t>37.6% of corporate bonds are coded Energy (median 10.7%) and repos fund 14.1% of the portfolio, about 3x the next peer.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700" b="1" i="0">
                <a:solidFill>
                  <a:srgbClr val="333333"/>
                </a:solidFill>
                <a:latin typeface="Arial"/>
              </a:rPr>
              <a:t>Par and disclosure. </a:t>
            </a:r>
            <a:r>
              <a:rPr sz="1700" b="0" i="0">
                <a:solidFill>
                  <a:srgbClr val="333333"/>
                </a:solidFill>
                <a:latin typeface="Arial"/>
              </a:rPr>
              <a:t>RBC's filed par curve sits 177 bp under its dividend scale rate, the widest gap; it publishes no market sensitivities, while disclosing peers lose C$16–336MM on a C$25Bn book in moderate shocks.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Twenty insurers in five strategic groups; RBC Life competes with BMO Life as the bank-owned pair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OSFI, AMF and FCNB registers; general-account size from the portfolio composition analysis (latest filing, C$Bn). Coverage gaps listed on the method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1124712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55778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Group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Ownership / regulator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Insurers (general account, C$Bn)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Big three groups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Listed, global, OSFI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Manulife 451.3;  Sun Life 208.6;  Canada Life 99.1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Quebec and mutual leaders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AMF; iA listed, Desjardins and Beneva cooperative/mutual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iA Financial 46.2;  Desjardins n/d;  Beneva 12.1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Bank-owned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OSFI, October fiscal year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RBC Life 25.7;  BMO Life 18.2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Mid-size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OSFI; stock, mutual and Sagicor-owned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ivari 11.8;  Empire Life 10.2;  Equitable Life 7.8;  Co-operators Life 6.0;  Wawanesa Life 1.3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Niche and small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OSFI, AMF, FCNB; fraternal, mutual, distribution-led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Foresters Life 0.8;  Canadian Premier 0.7;  Primerica Life 0.4;  Assumption Life 0.8;  UV Insurance 2.4;  Humania 0.4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760720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Canada Protection Plan reports inside Foresters Life; Desjardins' life portfolio is not published apart from Desjardins Group (n/d).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Positioning: RBC Life takes median-level investment risk on a below-median capital buffer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LICAT total ratio (OSFI LCQ FY2025 Q4; CARLI/solvency ratio for iA, Beneva, Assumption, Humania); return-seeking = equity, real estate, PE + private credit, % of general account. UV and Desjardins: no ratio.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786384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03920" y="1645920"/>
            <a:ext cx="329184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333333"/>
                </a:solidFill>
                <a:latin typeface="Arial"/>
              </a:rPr>
              <a:t>Reading the map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Dashed lines are peer medians: 30% return-seeking assets and a 159% capital ratio.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RBC Life: 34% return-seeking, 132% capital ratio. It sits with the big three and ivari in the lower half: similar risk appetite, thinner buffer.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Equitable Life takes the most risk (equities 36%) but holds a 159% ratio; Foresters and Primerica hold the most capital.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RBC Life profile: fifth-largest book, investment-grade bonds, the lowest disclosure in the peer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OSFI LCQ, LF2, LF3 (RBC Life Insurance Company, legal entity, FY to 31 Oct 2025; portfolio at 31 Jul 2026); par account size: PolicyAdvisor 2026. n/d = not disclosed.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00200"/>
          <a:ext cx="5760720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1280160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RBC Life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Peer median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General account (C$Bn)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25.7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LICAT total ratio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132%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159%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Market risk capital, % invested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Credit risk capital, % invested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Equity, RE and PE, % portfolio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14.7%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18.8%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Private credit, % portfolio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19.4%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Below investment grade, % bonds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Liquidity-weighted assets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77.2%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78.2%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Individual life 30y premium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1.72%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1.37%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Market sensitivities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10 of 20 disclose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92240" y="1600200"/>
          <a:ext cx="5239512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913632"/>
              </a:tblGrid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Assessment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Business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Royal Bank of Canada's life insurer: individual life, living benefits, annuities (group and individual).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Strengths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99.9% investment-grade bonds; 31.6% government bonds; near-zero credit losses (ECL 0.7 bp).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Weaknesses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LICAT 132% vs 159% median; 37.6% Energy coding; repos 14.1% of portfolio; no sensitivities published.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Posture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Long-duration public bonds plus private placements (11.7%); little real estate or PE; derivative and repo overlay for ALM.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Discount curves: RBC Life is at the peer median; iA to Primerica spans C$876MM of liability per C$10Bn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OSFI LF2 P35035–P35065 (most illiquid curve, individual non-par), Q4 2025; iA, Desjardins, Beneva, Assumption 2025 annual reports. Stylised liability: payments falling 4%/yr over 80 years. Analysis: analysis/discount_curves.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75895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645920"/>
            <a:ext cx="352044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333333"/>
                </a:solidFill>
                <a:latin typeface="Arial"/>
              </a:rPr>
              <a:t>Liability vs peer median, C$MM per C$10Bn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Negative = higher discount rates, smaller liability (more generous). Positive = more conservative.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RBC Life: -24 (-0.24%). Its forward-shaped curve is above the median at 20–30 years (30y premium 1.72%) and below it at 10 and 70+ years, which nets out.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Manulife carries the highest 30y premium (2.05%) but the lowest ultimate risk-free rate (3.40%).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RBC Life's curve runs above the peer median at 20–30 years and below it at the long end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as previous slide; product lines from OSFI LF2 by line of business, Q4 2025. RBC Life rates are filed as one-year forwards and converted to spot (interpretation, not stated by OSFI).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60350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0" y="1645920"/>
          <a:ext cx="505663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1368"/>
                <a:gridCol w="822960"/>
                <a:gridCol w="822960"/>
                <a:gridCol w="822960"/>
                <a:gridCol w="78638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Product, 30y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RBC rate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Median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RBC prem.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Median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Individual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5.75%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1.72%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1.37%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Individual annuity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5.75%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1.72%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1.37%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Group annuity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5.75%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5.30%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1.72%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1.28%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3657600"/>
            <a:ext cx="5056632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RBC files the same curve for all non-par lines, so its 30y rate (5.75%) and premium (1.72%) exceed the median for every product.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400" b="0" i="0">
                <a:solidFill>
                  <a:srgbClr val="333333"/>
                </a:solidFill>
                <a:latin typeface="Arial"/>
              </a:rPr>
              <a:t>At 80 years RBC's spot rate is 4.23% against a 5.15% median; its filed ultimate forward is 4.10%.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Par: dividend scale rates run 73–177 bp above filed par curves; RBC Life's 177 bp gap is the widest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OSFI LF2 par curves (flat-equivalent rate on the stylised liability), Q4 2025; annual-report curves for iA, Desjardins, Assumption; dividend scale interest rates 2025: PolicyAdvisor, RBC and Equitable sites.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75895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0" y="1554480"/>
          <a:ext cx="3502152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822960"/>
                <a:gridCol w="98755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Insurer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Gap, bp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Par acct C$MM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▸ RBC Life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+177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Sun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24,200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Desjardins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+134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Co-operators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+134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2,936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Manulife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+125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15,980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Empire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+114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1,320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iA Financial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+109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Assumption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+95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Canada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62,770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Equitable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3,320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5312664"/>
            <a:ext cx="3502152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RBC's par account is small (C$51MM), so the gap matters more for disclosure than for its balance sheet.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Portfolio: RBC Life is 64% public bonds with few alternatives; big three and Equitable lean on private assets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OSFI LF2 P21012/LF1 (OSFI filers, mid-2026); Q2 2026 supplements for Manulife, Sun Life, Great-West Lifeco, iA; 2025 annual reports for Beneva, UV, Humania, Assumption. General account only; Desjardins not published.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RBC Life overweights government bonds and public equity, and holds the least cash of the larger peers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as previous slide; % of general account. Peer median across the 18 charted insurers. Private placements are mapped to illiquid term loans.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398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% of general account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▸ RBC Life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Median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BMO Life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Canada Life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iA Financial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Empire Life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Sun Life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Manulife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Corporate Bonds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32.8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31.0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54.3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23.5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34.9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22.3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29.2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Government Bonds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31.6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17.3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39.9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14.7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19.4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Asset Backed Securities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Common Shares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12.5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9.5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10.7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Preferred Shares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Commercial Mortgages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7.7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13.6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Private placements / term loans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12.4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22.0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Policy &amp; Other Loans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4.9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Real Estate Equity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Infrastructure Equity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Other Private Equity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8.3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RBC Life funds 14.1% of its portfolio with repos, about 3x the next peer (iA Financial, 5.0%)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OSFI LF3 P21110 derivative notionals and P22030 row 280 repos, FY2025 (legal entity); iA and Manulife financial statement notes. Securities lending and ISN are not disclosed by any peer.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75895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645920"/>
            <a:ext cx="352044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Arial"/>
              </a:rPr>
              <a:t>RBC Life, 31 Oct 2025 (C$MM)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Repos: 3,625 (14.1%)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FX derivatives: 3,813 (14.8%)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Equity derivatives: 179 (0.7%)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Rate derivatives, linear: 2,782 (10.8%)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Rate derivatives, non-linear: 786 (3.0%)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Repos add leverage and a collateral call in a rate spike. Only iA (5.0%), Sun Life (1.4%) and Manulife (0.3%) report 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Capital: RBC Life's 132% LICAT ratio is the third-lowest of 17, 27 points below the 159% median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OSFI LCQ (LICAT) and LF2/LF3 returns, FY2025 Q4 (RBC Life, BMO Life: Oct 2025); AMF/annual reports for iA, Beneva, Assumption, Humania. Analysis: analysis/investment_risk.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64008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0" y="1508760"/>
          <a:ext cx="4599432" cy="4594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7752"/>
                <a:gridCol w="1005840"/>
                <a:gridCol w="1005840"/>
              </a:tblGrid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LICAT capital, % invested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Market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Credit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Manulife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Sun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Canada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▸ RBC Life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2.5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BMO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ivari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Empire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Equitable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Co-operators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Wawanesa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Foresters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4.0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Canadian Premier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Primerica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14.7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6.9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Median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5.1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Credit: RBC Life's bonds are 99.9% investment grade, but 37.6% of its corporates are coded Energy, 3.5x the median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OSFI LF3 P21030 bonds by issuer sector (FY2025 Q4); LF2 P21020 ECL; LF3 P21050 problem mortgages; rating splits from YE2025 annual reports. RBC files no Utilities line, so the Energy share may reflect coding.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603504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675120" y="1554480"/>
          <a:ext cx="505663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2072"/>
                <a:gridCol w="1188720"/>
                <a:gridCol w="100584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Credit metric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RBC Life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Median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Below investment grade, % bonds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BBB, % bonds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23.9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Private credit, % portfolio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19.4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ECL allowance, bp invested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Problem mortgages, 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0.04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Largest sector, % corporates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Energy 37.6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35.0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LICAT credit capital, % inv.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2.45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4983480"/>
            <a:ext cx="5056632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Manulife carries the most credit risk (4.0% below IG, 19 bp ECL); Sun Life the most problem mortgages (1.2%).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Liquidity: RBC Life's liquidity-weighted assets (77%) sit at the median (78%); the big three run the least liquid books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latest general-account mix (portfolio composition analysis). Weights after Doff's weighted liquidity ratio (illustrative): cash 100%, govt 95%, public corporates 85%, ABS and shares 70%, mortgages 50%, private debt 40%, RE/PE 20%, policy loans 0%.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694944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645920"/>
            <a:ext cx="406908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333333"/>
                </a:solidFill>
                <a:latin typeface="Arial"/>
              </a:rPr>
              <a:t>RBC Life vs median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Cash and government bonds (tier 1): 33.2% vs 30.4%.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All public, liquid assets (tiers 1–2): 78.5% vs 81.4%.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The weighted ratio ignores funding: the 14.1% repo book draws on the same government bonds that make up RBC's liquid tier.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Only Manulife (60%) and Great-West Lifeco (51%) publish their own liquid-asset measure.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Market risk: moderate shocks cost disclosing peers C$16–336MM on a C$25Bn book; RBC Life publishes no sensitivities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YE2025 MD&amp;A and FS sensitivity notes, scaled to C$25Bn of invested assets; ±100 bp and −15% shocks scaled linearly; undiversified sum, gains count as zero. Detail: analysis/investment_risk/disclosed_sensitivities.csv.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508760"/>
          <a:ext cx="758952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1645920"/>
            <a:ext cx="352044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333333"/>
                </a:solidFill>
                <a:latin typeface="Arial"/>
              </a:rPr>
              <a:t>Earnings at risk, C$MM (total in brackets)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After tax where disclosed; Wawanesa and Empire as disclosed, Foresters pre-tax.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Peer median C$136MM. Equity and alternatives drive the large groups; rates drive Wawanesa, Empire and Foresters.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For reference: a C$35MM earnings limit on C$28Bn is about C$31MM on C$25Bn. Only Assumption Life's disclosed shocks fit inside it.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RBC Life, BMO Life, ivari, Co-operators, Canadian Premier and Primerica publish no sensitivities.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Scorecard (1/2): among the ten largest books, only Canada Life and ivari hold less capital than RBC Life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●●● = top third of peers on that metric (highest value), ●○○ = bottom third. Curve vs median: liability on own curve vs peer median (negative = more generous). EaR: earnings at risk on C$25Bn (slide 15). – = not available.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08760"/>
          <a:ext cx="11247120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325880"/>
                <a:gridCol w="1325880"/>
                <a:gridCol w="1371600"/>
                <a:gridCol w="1234440"/>
                <a:gridCol w="1234440"/>
                <a:gridCol w="1188720"/>
                <a:gridCol w="123444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Insurer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Scale C$Bn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Capital ratio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Curve vs median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Equity, RE, PE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Private credit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Liquidity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EaR C$MM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Manulife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451.3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136%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-1.6%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19%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Sun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208.6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140%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+2.8%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65%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Canada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99.1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128%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-2.8%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38%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69%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iA Financial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46.2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137%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-3.7%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20%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▸ RBC Life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●●● 25.7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●○○ 132%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●●○ -0.2%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●●○ 15%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●●● 19%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●●○ 77%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BEBD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BMO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18.2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134%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+4.3%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80%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Beneva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12.1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163%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-0.6%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70%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ivari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11.8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129%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-1.0%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36%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79%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Empire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10.2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153%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-2.0%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83%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158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Equitable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7.8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159%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+3.0%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42%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18%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69%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Scorecard (2/2): smaller peers hold more capital and liquidity; Wawanesa Life carries the most earnings at risk (C$336MM)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●●● = top third of peers on that metric (highest value), ●○○ = bottom third. Curve vs median: liability on own curve vs peer median (negative = more generous). EaR: earnings at risk on C$25Bn (slide 15). – = not available.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08760"/>
          <a:ext cx="11247120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325880"/>
                <a:gridCol w="1325880"/>
                <a:gridCol w="1371600"/>
                <a:gridCol w="1234440"/>
                <a:gridCol w="1234440"/>
                <a:gridCol w="1188720"/>
                <a:gridCol w="123444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Insurer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Scale C$Bn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Capital ratio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Curve vs median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Equity, RE, PE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Private credit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Liquidity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EaR C$MM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Co-operators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6.0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160%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-0.7%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22%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82%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UV Insurance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2.4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80%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Wawanesa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167%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-1.0%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74%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336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Foresters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208%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+0.7%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15%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84%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86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Assumption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167%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+1.4%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82%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Canadian Premier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164%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+1.7%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84%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Primerica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194%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+5.1%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90%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Humania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0.4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●●● 185%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●○○ 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74%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Desjardins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●●○ -0.4%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Canada Protection Plan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Consolidation is reshaping the tail of the peer set; bank-owned insurers are pruning non-core blocks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Insurance Portal (9 Jun 2025); Sagicor press release (3 Oct 2023); Beneva and Canada Life announcements (Jan 2020); Insurance Business (Foresters/CPP). Deal multiples not disclosed (n/d).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651760"/>
                <a:gridCol w="1051560"/>
                <a:gridCol w="1691640"/>
                <a:gridCol w="1005840"/>
                <a:gridCol w="292608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Acquirer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Deal value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Multiple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Rationale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UV Insurance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~200k BMO Life policies (incl. ~15k par)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Jun 2025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~C$50MM premiums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Assumption reinsurance; doubled UV's members, assets +35%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Sagicor Financial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ivari (from Wilton Re)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Oct 2023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C$375MM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Canadian platform for a TSX-listed Caribbean group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SSQ + La Capitale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Merger, now Beneva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Jan 2020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n/a (mutual)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Scale: Canada's largest mutual insurer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Great-West Life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London Life, Canada Life amalgamated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Jan 2020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n/a (internal)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One Canada Life brand and balance sheet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Foresters Financial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Canada Protection Plan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No-medical / simplified issue distribution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For RBC Life: BMO's 2025 sale shows a bank-owned insurer exiting a closed block, a route to release capital if the 132% LICAT ratio becomes binding.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Scale is the clearest durable investment advantage: the big three originate private assets peers cannot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Assessment based on the metrics in this deck: private credit and alternatives shares (scale), par and annuity in-force (switching costs), brand and bank distribution (intangibles).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2286000"/>
                <a:gridCol w="2468880"/>
                <a:gridCol w="146304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Group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Scale economies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Switching costs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Intangible assets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333333"/>
                          </a:solidFill>
                          <a:latin typeface="Arial"/>
                        </a:rPr>
                        <a:t>Network effects</a:t>
                      </a:r>
                    </a:p>
                  </a:txBody>
                  <a:tcPr marL="73152" marR="73152" marT="27432" marB="27432" anchor="ctr">
                    <a:solidFill>
                      <a:srgbClr val="E6E8E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Big three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Strong: 19–38% private credit, own origination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Strong: large par and annuity in-force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Strong: global brands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iA, Desjardins, Beneva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Moderate: 15.5% private credit at 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Moderate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Strong in Quebec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▸ Bank-owned (RBC, BMO)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Moderate: RBC 19.4% private credit; BMO 2.8%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Weak: small par (C$51MM at RBC)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Strong: bank brand and branch distribution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Mid-size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Weak: rely on public markets and equities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Moderate: Equitable par 42% of liabilities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Moderate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Niche and small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Weak: 0–22% private assets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Niche distribution (Primerica, CPP)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333333"/>
                          </a:solidFill>
                          <a:latin typeface="Arial"/>
                        </a:rPr>
                        <a:t>Weak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Network effects do not apply to investment portfolios; rated Weak throughout.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For RBC Life: defend the clean credit book, fix the capital buffer, and explain the two concentrations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Source: synthesis of slides 2–19. Quantified signposts are proposals for monitoring, not targets set by RBC Life.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611880" cy="3429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3337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Arial"/>
              </a:rPr>
              <a:t>Durable advantages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33756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99.9% investment-grade bonds; ECL 0.7 bp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Discount curve at the peer median: reserves neither aggressive nor conservative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Bank brand and distribution (intangible)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600200"/>
            <a:ext cx="3611880" cy="3429000"/>
          </a:xfrm>
          <a:prstGeom prst="rect">
            <a:avLst/>
          </a:prstGeom>
          <a:solidFill>
            <a:srgbClr val="FBE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691640"/>
            <a:ext cx="3337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Arial"/>
              </a:rPr>
              <a:t>Structural vulnerabilities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286000"/>
            <a:ext cx="333756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LICAT 132%, third-lowest; 27 points under median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Repos 14.1% of portfolio; Energy 37.6% of corporates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No sensitivities published; par curve 177 bp under DSIR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600200"/>
            <a:ext cx="3611880" cy="34290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691640"/>
            <a:ext cx="33375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Arial"/>
              </a:rPr>
              <a:t>Signposts to watch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286000"/>
            <a:ext cx="333756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LICAT ratio below 125%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Repos above 15% of portfolio or Energy above 40% of corporates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333333"/>
                </a:solidFill>
                <a:latin typeface="Arial"/>
              </a:rPr>
              <a:t>• 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30y premium more than 50 bp above the peer median (+35 bp at YE2025)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33333"/>
                </a:solidFill>
                <a:latin typeface="Arial"/>
              </a:rPr>
              <a:t>Trajectory. </a:t>
            </a:r>
            <a:r>
              <a:rPr sz="1600" b="0" i="0">
                <a:solidFill>
                  <a:srgbClr val="333333"/>
                </a:solidFill>
                <a:latin typeface="Arial"/>
              </a:rPr>
              <a:t>RBC Life's LICAT ratio has held at 132–136% since fiscal 2024 (135.6% at fiscal Q3 2026), so the capital gap to peers is structural, not cyclical. Its 30y premium lead over the median narrowed from +35 bp at YE2025 to +17 bp at Q3 2026.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F3A5F"/>
                </a:solidFill>
                <a:latin typeface="Arial"/>
              </a:rPr>
              <a:t>Method, coverage and caveats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371600"/>
            <a:ext cx="11274552" cy="0"/>
          </a:xfrm>
          <a:prstGeom prst="line">
            <a:avLst/>
          </a:prstGeom>
          <a:ln w="12700">
            <a:solidFill>
              <a:srgbClr val="9AA5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6199632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Code and data: abiddobani/InsuranceCompanies, analysis/discount_curves, analysis/portfolio_composition, analysis/investment_risk, analysis/summary_deck.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355080"/>
            <a:ext cx="758952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Arial"/>
              </a:rPr>
              <a:t>Discount curves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Most illiquid curve (OSFI LF2 collects only that bucket); premiums for RBC Life and annual-report insurers measured over the median OSFI risk-free curve. 2023Q1 excluded (unit errors).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Par: dividend scale interest rate used as the par rate; ivari, Wawanesa, Beneva have none.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Arial"/>
              </a:rPr>
              <a:t>Portfolio composition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General account only; par excluded only for Canada Life and Assumption (the only peers that split it). Beneva includes P&amp;C. Level 1 assigned by asset class.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48640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Arial"/>
              </a:rPr>
              <a:t>Investment risk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LICAT market and credit capital cover non-par only, legal entity. Big-three sensitivities are group-wide (Canada Life = Great-West Lifeco incl. Empower). Liquidity weights are illustrative.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Arial"/>
              </a:rPr>
              <a:t>Gaps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Humania and UV: no curve. Desjardins: no portfolio or capital ratio. Canada Protection Plan sits in Foresters. RBC's forward-rate reading and Energy coding are unconfirmed.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Arial"/>
              </a:rPr>
              <a:t>All figures re-run on 28 Oct 2026; outputs match the earlier dashboards exactly.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