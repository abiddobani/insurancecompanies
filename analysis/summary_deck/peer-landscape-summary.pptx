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1428750"/>
            <a:ext cx="11048999" cy="1047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0">
                <a:solidFill>
                  <a:srgbClr val="1F2329"/>
                </a:solidFill>
                <a:latin typeface="Georgia"/>
              </a:rPr>
              <a:t>Canadian life &amp; health insurers: peer investment landscape</a:t>
            </a:r>
          </a:p>
        </p:txBody>
      </p:sp>
      <p:pic>
        <p:nvPicPr>
          <p:cNvPr id="3" name="Picture 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762249"/>
            <a:ext cx="11353800" cy="3524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the three analyses in abiddobani/InsuranceCompanies (analysis/discount_curves, analysis/portfolio_composition, analysis/investment_risk), re-run 28 Oct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RBC Life runs a high-quality but thinly capitalised book, with two concentrations peers do not have</a:t>
            </a:r>
          </a:p>
        </p:txBody>
      </p:sp>
      <p:pic>
        <p:nvPicPr>
          <p:cNvPr id="3" name="Picture 2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slides 3 to 20. Peer medians are taken across every insurer with the metric; scale is C$ general-account invested assets at each insurer's latest filing.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Twenty insurers in five strategic groups; RBC Life competes with BMO Life as the bank-owned pair</a:t>
            </a:r>
          </a:p>
        </p:txBody>
      </p:sp>
      <p:pic>
        <p:nvPicPr>
          <p:cNvPr id="3" name="Picture 2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OSFI, AMF and FCNB registers; general-account size from the portfolio composition analysis (mid-2026 for OSFI filers and listed groups, December 2025 for annual reporters).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Positioning: RBC Life takes median-level investment risk on a below-median capital buffer</a:t>
            </a:r>
          </a:p>
        </p:txBody>
      </p:sp>
      <p:pic>
        <p:nvPicPr>
          <p:cNvPr id="3" name="Picture 2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LICAT total ratio from OSFI LCQ FY2025 Q4 (CARLI / solvency ratio for iA, Beneva, Assumption, Humania); asset mix from the portfolio composition analysis. UV Insurance and Desjardins publish no ratio.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RBC Life profile: fifth-largest book, investment-grade bonds, the thinnest disclosure in the peer set</a:t>
            </a:r>
          </a:p>
        </p:txBody>
      </p:sp>
      <p:pic>
        <p:nvPicPr>
          <p:cNvPr id="3" name="Picture 2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OSFI LCQ, LF2, LF3 for RBC Life Insurance Company (legal entity, fiscal year to 31 Oct 2025; portfolio at 31 Jul 2026); peers as on later slides. Metrics RBC Life does not publish are marked.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Discount curves: RBC Life is at the peer median; iA to Primerica spans C$876MM of liability per C$10Bn</a:t>
            </a:r>
          </a:p>
        </p:txBody>
      </p:sp>
      <p:pic>
        <p:nvPicPr>
          <p:cNvPr id="3" name="Picture 2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OSFI LF2 pages P35035 to P35065 (most illiquid curve, individual non-par), Q4 2025; iA, Desjardins, Beneva and Assumption Life 2025 annual reports. Analysis: analysis/discount_curves.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RBC Life's curve runs above the peer median at 20 to 30 years and below it at the long end</a:t>
            </a:r>
          </a:p>
        </p:txBody>
      </p:sp>
      <p:pic>
        <p:nvPicPr>
          <p:cNvPr id="3" name="Picture 2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OSFI LF2 by line of business, Q4 2025 (fiscal Q4 2025 for RBC Life and BMO Life); annual reports for iA, Desjardins, Beneva and Assumption Life. Premiums for insurers without their own risk-free curve are measured over the median OSFI risk-free curve.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Par: dividend scale rates run 73 to 177 bp above filed par curves; RBC Life's 177 bp gap is the widest</a:t>
            </a:r>
          </a:p>
        </p:txBody>
      </p:sp>
      <p:pic>
        <p:nvPicPr>
          <p:cNvPr id="3" name="Picture 2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OSFI LF2 par curves, Q4 2025; annual-report curves for iA, Desjardins and Assumption Life; dividend scale interest rates 2025 from PolicyAdvisor's table, RBC Life and Equitable Life confirmed on their own sites; par account sizes from PolicyAdvisor 2026 and Co-operators' par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Portfolio: RBC Life is 64% public bonds with few alternatives; the big three and Equitable lean on private assets</a:t>
            </a:r>
          </a:p>
        </p:txBody>
      </p:sp>
      <p:pic>
        <p:nvPicPr>
          <p:cNvPr id="3" name="Picture 2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OSFI LF2 P21012 / LF1 (OSFI filers, mid-2026); Q2 2026 supplements for Manulife, Sun Life, Great-West Lifeco and iA; 2025 annual reports for Beneva, UV, Humania and Assumption Life. Desjardins' life portfolio is not published. Analysis: analysis/portfolio_composition.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RBC Life overweights government bonds and public equity, and holds the least cash of the larger peers</a:t>
            </a:r>
          </a:p>
        </p:txBody>
      </p:sp>
      <p:pic>
        <p:nvPicPr>
          <p:cNvPr id="3" name="Picture 2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as previous slide. UV Insurance and Humania publish only summary statements and are not shown.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RBC Life funds 14.1% of its portfolio with repos, about 3x the next peer (iA Financial, 5.0%)</a:t>
            </a:r>
          </a:p>
        </p:txBody>
      </p:sp>
      <p:pic>
        <p:nvPicPr>
          <p:cNvPr id="3" name="Picture 2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OSFI LF3 P21110 derivative notionals and P22030 row 280 repos, fiscal 2025 (legal entity); iA and Manulife financial statement notes. Annual-report insurers are not covered.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Capital: RBC Life's 132% LICAT ratio is the third-lowest of 17, 27 points below the 159% median</a:t>
            </a:r>
          </a:p>
        </p:txBody>
      </p:sp>
      <p:pic>
        <p:nvPicPr>
          <p:cNvPr id="3" name="Picture 2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OSFI LCQ (LICAT summary and components D3000010077 / D5000010057), FY2025 Q4 (RBC Life, BMO Life: Oct 2025); AMF and annual reports for iA, Beneva, Assumption and Humania. Analysis: analysis/investment_risk.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Credit: RBC Life's bonds are 99.9% investment grade, but 37.6% of its corporates are coded Energy, 3.5x the median</a:t>
            </a:r>
          </a:p>
        </p:txBody>
      </p:sp>
      <p:pic>
        <p:nvPicPr>
          <p:cNvPr id="3" name="Picture 2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OSFI LF3 P21030 bonds by issuer sector and P21050 problem mortgages, LF2 P21020 expected credit losses (FY2025 Q4); rating splits from year-end 2025 annual reports (RBC Life publishes none).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Liquidity: RBC Life's liquidity-weighted assets (77%) sit at the median (78%); the big three run the least liquid books</a:t>
            </a:r>
          </a:p>
        </p:txBody>
      </p:sp>
      <p:pic>
        <p:nvPicPr>
          <p:cNvPr id="3" name="Picture 2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latest general-account mix from the portfolio composition analysis; tier weights from R. Doff, Investment risks: market, credit and liquidity risk (Risk.net).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Market risk: moderate shocks cost disclosing peers C$16 to 336MM on a C$25Bn book; RBC Life publishes no sensitivities</a:t>
            </a:r>
          </a:p>
        </p:txBody>
      </p:sp>
      <p:pic>
        <p:nvPicPr>
          <p:cNvPr id="3" name="Picture 2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year-end 2025 MD&amp;A and financial statement sensitivity notes, scaled to C$25Bn of invested assets; ±100 bp and −15% shocks scaled linearly. Detail: analysis/investment_risk/disclosed_sensitivities.csv.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Scorecard (1/2): among the ten largest books, only Canada Life and ivari hold less capital than RBC Life</a:t>
            </a:r>
          </a:p>
        </p:txBody>
      </p:sp>
      <p:pic>
        <p:nvPicPr>
          <p:cNvPr id="3" name="Picture 2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slides 6, 9, 12, 14 and 15; capital ratios as on slide 12.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Scorecard (2/2): smaller peers hold more capital and liquidity; Wawanesa Life carries the most earnings at risk (C$336MM)</a:t>
            </a:r>
          </a:p>
        </p:txBody>
      </p:sp>
      <p:pic>
        <p:nvPicPr>
          <p:cNvPr id="3" name="Picture 2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slides 6, 9, 12, 14 and 15; capital ratios as on slide 12.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Consolidation is reshaping the tail of the peer set; bank-owned insurers are pruning non-core blocks</a:t>
            </a:r>
          </a:p>
        </p:txBody>
      </p:sp>
      <p:pic>
        <p:nvPicPr>
          <p:cNvPr id="3" name="Picture 2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Insurance Portal (9 Jun 2025); Sagicor press release (3 Oct 2023); Beneva and Canada Life announcements (Jan 2020); Insurance Business (Foresters and CPP).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Scale is the clearest durable investment advantage: the big three originate private assets peers cannot</a:t>
            </a:r>
          </a:p>
        </p:txBody>
      </p:sp>
      <p:pic>
        <p:nvPicPr>
          <p:cNvPr id="3" name="Picture 2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slides 3, 8, 9 and 12. The ratings are assessments built on disclosed metrics, not disclosed figures.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For RBC Life: defend the clean credit book, fix the capital buffer, and explain the two concentrations</a:t>
            </a:r>
          </a:p>
        </p:txBody>
      </p:sp>
      <p:pic>
        <p:nvPicPr>
          <p:cNvPr id="3" name="Picture 2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Source: synthesis of slides 2 to 19; LICAT history from OSFI LCQ (one entity per insurer, fiscal quarters; RBC Life's fiscal Q3 2026 ends July 2026). Quantified signposts are proposals for monitoring, not targets set by RBC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11048999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F2329"/>
                </a:solidFill>
                <a:latin typeface="Georgia"/>
              </a:rPr>
              <a:t>Method, coverage and caveats</a:t>
            </a:r>
          </a:p>
        </p:txBody>
      </p:sp>
      <p:pic>
        <p:nvPicPr>
          <p:cNvPr id="3" name="Picture 2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028700"/>
            <a:ext cx="11353800" cy="5257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6438899"/>
            <a:ext cx="10668000" cy="28575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800">
                <a:solidFill>
                  <a:srgbClr val="5D6470"/>
                </a:solidFill>
                <a:latin typeface="Arial"/>
              </a:rPr>
              <a:t>Code and data: abiddobani/InsuranceCompanies, analysis/discount_curves, analysis/portfolio_composition, analysis/investment_risk, analysis/summary_deck.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0" y="6438899"/>
            <a:ext cx="533399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470"/>
                </a:solidFill>
                <a:latin typeface="Arial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